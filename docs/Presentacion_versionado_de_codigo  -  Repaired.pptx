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30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54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Versionado del Código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 y Buenas Prácticas de Documentación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286000" y="3840480"/>
            <a:ext cx="457200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" name="Text 4"/>
          <p:cNvSpPr/>
          <p:nvPr/>
        </p:nvSpPr>
        <p:spPr>
          <a:xfrm>
            <a:off x="2286000" y="3840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y Programación para Semiconductores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572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control de versiones?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33502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fundamentales y motivación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841248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57200" cy="658368"/>
          </a:xfrm>
          <a:prstGeom prst="rect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8288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básico de Git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1226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esenciales, flujo de trabajo local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841248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4572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6" name="Text 14"/>
          <p:cNvSpPr/>
          <p:nvPr/>
        </p:nvSpPr>
        <p:spPr>
          <a:xfrm>
            <a:off x="365760" y="256032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6060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y trabajo remoto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8895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Repositorios, push, pull, clones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841248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457200" cy="658368"/>
          </a:xfrm>
          <a:prstGeom prst="rect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Text 19"/>
          <p:cNvSpPr/>
          <p:nvPr/>
        </p:nvSpPr>
        <p:spPr>
          <a:xfrm>
            <a:off x="365760" y="333756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3832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colaborativos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6667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Ramas, merge, conflictos, pull requests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8412480" cy="65836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4572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6" name="Text 24"/>
          <p:cNvSpPr/>
          <p:nvPr/>
        </p:nvSpPr>
        <p:spPr>
          <a:xfrm>
            <a:off x="365760" y="411480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1605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de documentación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444398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commits, comentarios en código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necesitamos control de versiones?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749040"/>
          </a:xfrm>
          <a:prstGeom prst="rect">
            <a:avLst/>
          </a:prstGeom>
          <a:solidFill>
            <a:srgbClr val="1C2333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</a:rPr>
              <a:t>SIN control de versiones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3566160" cy="475488"/>
          </a:xfrm>
          <a:prstGeom prst="rect">
            <a:avLst/>
          </a:prstGeom>
          <a:solidFill>
            <a:srgbClr val="2A1515"/>
          </a:solidFill>
          <a:ln w="63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script_final.py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20824"/>
            <a:ext cx="3566160" cy="475488"/>
          </a:xfrm>
          <a:prstGeom prst="rect">
            <a:avLst/>
          </a:prstGeom>
          <a:solidFill>
            <a:srgbClr val="2A1515"/>
          </a:solidFill>
          <a:ln w="63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" name="Text 7"/>
          <p:cNvSpPr/>
          <p:nvPr/>
        </p:nvSpPr>
        <p:spPr>
          <a:xfrm>
            <a:off x="548640" y="20208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script_final2.py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96896"/>
            <a:ext cx="3566160" cy="475488"/>
          </a:xfrm>
          <a:prstGeom prst="rect">
            <a:avLst/>
          </a:prstGeom>
          <a:solidFill>
            <a:srgbClr val="2A1515"/>
          </a:solidFill>
          <a:ln w="63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1" name="Text 9"/>
          <p:cNvSpPr/>
          <p:nvPr/>
        </p:nvSpPr>
        <p:spPr>
          <a:xfrm>
            <a:off x="548640" y="259689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script_final_ESTE.py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3566160" cy="475488"/>
          </a:xfrm>
          <a:prstGeom prst="rect">
            <a:avLst/>
          </a:prstGeom>
          <a:solidFill>
            <a:srgbClr val="2A1515"/>
          </a:solidFill>
          <a:ln w="63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3" name="Text 11"/>
          <p:cNvSpPr/>
          <p:nvPr/>
        </p:nvSpPr>
        <p:spPr>
          <a:xfrm>
            <a:off x="548640" y="31729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script_FINAL_v3.py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566160" cy="475488"/>
          </a:xfrm>
          <a:prstGeom prst="rect">
            <a:avLst/>
          </a:prstGeom>
          <a:solidFill>
            <a:srgbClr val="3D1010"/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¿Cuál es el bueno?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960120"/>
            <a:ext cx="4114800" cy="3749040"/>
          </a:xfrm>
          <a:prstGeom prst="rect">
            <a:avLst/>
          </a:prstGeom>
          <a:solidFill>
            <a:srgbClr val="1C2333"/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7" name="Text 15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6D364"/>
                </a:solidFill>
              </a:rPr>
              <a:t>CON control de versiones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0" y="1444752"/>
            <a:ext cx="3566160" cy="475488"/>
          </a:xfrm>
          <a:prstGeom prst="rect">
            <a:avLst/>
          </a:prstGeom>
          <a:solidFill>
            <a:srgbClr val="0D2A15"/>
          </a:solidFill>
          <a:ln w="635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9" name="Text 17"/>
          <p:cNvSpPr/>
          <p:nvPr/>
        </p:nvSpPr>
        <p:spPr>
          <a:xfrm>
            <a:off x="5029200" y="144475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Historial completo de cambios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020824"/>
            <a:ext cx="3566160" cy="475488"/>
          </a:xfrm>
          <a:prstGeom prst="rect">
            <a:avLst/>
          </a:prstGeom>
          <a:solidFill>
            <a:srgbClr val="0D2A15"/>
          </a:solidFill>
          <a:ln w="635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Text 19"/>
          <p:cNvSpPr/>
          <p:nvPr/>
        </p:nvSpPr>
        <p:spPr>
          <a:xfrm>
            <a:off x="5029200" y="20208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Quién cambió qué y cuándo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596896"/>
            <a:ext cx="3566160" cy="475488"/>
          </a:xfrm>
          <a:prstGeom prst="rect">
            <a:avLst/>
          </a:prstGeom>
          <a:solidFill>
            <a:srgbClr val="0D2A15"/>
          </a:solidFill>
          <a:ln w="635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3" name="Text 21"/>
          <p:cNvSpPr/>
          <p:nvPr/>
        </p:nvSpPr>
        <p:spPr>
          <a:xfrm>
            <a:off x="5029200" y="259689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Revertir a versiones anteriores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3172968"/>
            <a:ext cx="3566160" cy="475488"/>
          </a:xfrm>
          <a:prstGeom prst="rect">
            <a:avLst/>
          </a:prstGeom>
          <a:solidFill>
            <a:srgbClr val="0D2A15"/>
          </a:solidFill>
          <a:ln w="635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Text 23"/>
          <p:cNvSpPr/>
          <p:nvPr/>
        </p:nvSpPr>
        <p:spPr>
          <a:xfrm>
            <a:off x="5029200" y="31729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Colaborar sin conflictos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3749040"/>
            <a:ext cx="3566160" cy="475488"/>
          </a:xfrm>
          <a:prstGeom prst="rect">
            <a:avLst/>
          </a:prstGeom>
          <a:solidFill>
            <a:srgbClr val="0D2A15"/>
          </a:solidFill>
          <a:ln w="635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7" name="Text 25"/>
          <p:cNvSpPr/>
          <p:nvPr/>
        </p:nvSpPr>
        <p:spPr>
          <a:xfrm>
            <a:off x="5029200" y="374904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Releases etiquetados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97680" y="265785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Git?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00584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 un sistema de control de versiones distribuido, creado por Linus Torvalds en 2005. Cada desarrollador tiene una copia completa del repositorio.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2331720"/>
            <a:ext cx="4114800" cy="105156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" name="Shape 4"/>
          <p:cNvSpPr/>
          <p:nvPr/>
        </p:nvSpPr>
        <p:spPr>
          <a:xfrm>
            <a:off x="274320" y="2331720"/>
            <a:ext cx="4114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" name="Text 5"/>
          <p:cNvSpPr/>
          <p:nvPr/>
        </p:nvSpPr>
        <p:spPr>
          <a:xfrm>
            <a:off x="274320" y="2331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Distribuido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" y="26974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clon es un repositorio completo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2331720"/>
            <a:ext cx="4114800" cy="105156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1" name="Shape 8"/>
          <p:cNvSpPr/>
          <p:nvPr/>
        </p:nvSpPr>
        <p:spPr>
          <a:xfrm>
            <a:off x="4709160" y="2331720"/>
            <a:ext cx="4114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2" name="Text 9"/>
          <p:cNvSpPr/>
          <p:nvPr/>
        </p:nvSpPr>
        <p:spPr>
          <a:xfrm>
            <a:off x="4709160" y="2331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Velocidad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09160" y="26974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locales ultrarrápidas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" y="3566160"/>
            <a:ext cx="4114800" cy="105156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5" name="Shape 12"/>
          <p:cNvSpPr/>
          <p:nvPr/>
        </p:nvSpPr>
        <p:spPr>
          <a:xfrm>
            <a:off x="274320" y="3566160"/>
            <a:ext cx="4114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6" name="Text 13"/>
          <p:cNvSpPr/>
          <p:nvPr/>
        </p:nvSpPr>
        <p:spPr>
          <a:xfrm>
            <a:off x="274320" y="35661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Integridad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74320" y="3931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 garantiza integridad de datos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09160" y="3566160"/>
            <a:ext cx="4114800" cy="105156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9" name="Shape 16"/>
          <p:cNvSpPr/>
          <p:nvPr/>
        </p:nvSpPr>
        <p:spPr>
          <a:xfrm>
            <a:off x="4709160" y="3566160"/>
            <a:ext cx="41148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0" name="Text 17"/>
          <p:cNvSpPr/>
          <p:nvPr/>
        </p:nvSpPr>
        <p:spPr>
          <a:xfrm>
            <a:off x="4709160" y="35661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Branching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09160" y="3931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ligeras para experimentos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y Configuración Inicial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2011680"/>
          </a:xfrm>
          <a:prstGeom prst="rect">
            <a:avLst/>
          </a:prstGeom>
          <a:solidFill>
            <a:srgbClr val="1C2333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D4B0"/>
                </a:solidFill>
              </a:rPr>
              <a:t>Instalación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Ubuntu/Debian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git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Fedora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dnf install git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git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20116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Configuración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user.name "Tu Nombre"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user.email "correo@fab.com"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--list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108960"/>
            <a:ext cx="8595360" cy="1691640"/>
          </a:xfrm>
          <a:prstGeom prst="rect">
            <a:avLst/>
          </a:prstGeom>
          <a:solidFill>
            <a:srgbClr val="1A2A1A"/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9184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la instalación con: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    →   git version 2.x.x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0584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identidad configurada aparecerá en cada commit del historial.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de Trabajo de Git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474720"/>
          </a:xfrm>
          <a:prstGeom prst="rect">
            <a:avLst/>
          </a:prstGeom>
          <a:solidFill>
            <a:srgbClr val="1C2333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Working Directory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que estás editando ahora mismo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960120"/>
            <a:ext cx="2743200" cy="3474720"/>
          </a:xfrm>
          <a:prstGeom prst="rect">
            <a:avLst/>
          </a:prstGeom>
          <a:solidFill>
            <a:srgbClr val="1C2333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7432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Text 8"/>
          <p:cNvSpPr/>
          <p:nvPr/>
        </p:nvSpPr>
        <p:spPr>
          <a:xfrm>
            <a:off x="333756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Staging Area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preparados para el commit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960120"/>
            <a:ext cx="2743200" cy="3474720"/>
          </a:xfrm>
          <a:prstGeom prst="rect">
            <a:avLst/>
          </a:prstGeom>
          <a:solidFill>
            <a:srgbClr val="1C2333"/>
          </a:solidFill>
          <a:ln w="1905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3" name="Shape 11"/>
          <p:cNvSpPr/>
          <p:nvPr/>
        </p:nvSpPr>
        <p:spPr>
          <a:xfrm>
            <a:off x="6355080" y="960120"/>
            <a:ext cx="2743200" cy="457200"/>
          </a:xfrm>
          <a:prstGeom prst="rect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Text 12"/>
          <p:cNvSpPr/>
          <p:nvPr/>
        </p:nvSpPr>
        <p:spPr>
          <a:xfrm>
            <a:off x="6355080" y="960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</a:rPr>
              <a:t>Repository (.git)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permanente de commits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63240" y="2423160"/>
            <a:ext cx="27432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7" name="Text 15"/>
          <p:cNvSpPr/>
          <p:nvPr/>
        </p:nvSpPr>
        <p:spPr>
          <a:xfrm>
            <a:off x="3063240" y="2423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117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88920" y="27706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2423160"/>
            <a:ext cx="274320" cy="320040"/>
          </a:xfrm>
          <a:prstGeom prst="rect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0" name="Text 18"/>
          <p:cNvSpPr/>
          <p:nvPr/>
        </p:nvSpPr>
        <p:spPr>
          <a:xfrm>
            <a:off x="6035040" y="24231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117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27706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103120"/>
            <a:ext cx="2377440" cy="457200"/>
          </a:xfrm>
          <a:prstGeom prst="rect">
            <a:avLst/>
          </a:prstGeom>
          <a:solidFill>
            <a:srgbClr val="2A1E10"/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3" name="Text 21"/>
          <p:cNvSpPr/>
          <p:nvPr/>
        </p:nvSpPr>
        <p:spPr>
          <a:xfrm>
            <a:off x="45720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697480"/>
            <a:ext cx="2377440" cy="457200"/>
          </a:xfrm>
          <a:prstGeom prst="rect">
            <a:avLst/>
          </a:prstGeom>
          <a:solidFill>
            <a:srgbClr val="2A1E10"/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Text 23"/>
          <p:cNvSpPr/>
          <p:nvPr/>
        </p:nvSpPr>
        <p:spPr>
          <a:xfrm>
            <a:off x="45720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config.tcl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2377440" cy="457200"/>
          </a:xfrm>
          <a:prstGeom prst="rect">
            <a:avLst/>
          </a:prstGeom>
          <a:solidFill>
            <a:srgbClr val="2A1E10"/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test_fab.py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2103120"/>
            <a:ext cx="2377440" cy="457200"/>
          </a:xfrm>
          <a:prstGeom prst="rect">
            <a:avLst/>
          </a:prstGeom>
          <a:solidFill>
            <a:srgbClr val="0D2020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9" name="Text 27"/>
          <p:cNvSpPr/>
          <p:nvPr/>
        </p:nvSpPr>
        <p:spPr>
          <a:xfrm>
            <a:off x="347472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process.py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0" y="2697480"/>
            <a:ext cx="2377440" cy="457200"/>
          </a:xfrm>
          <a:prstGeom prst="rect">
            <a:avLst/>
          </a:prstGeom>
          <a:solidFill>
            <a:srgbClr val="0D2020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1" name="Text 29"/>
          <p:cNvSpPr/>
          <p:nvPr/>
        </p:nvSpPr>
        <p:spPr>
          <a:xfrm>
            <a:off x="347472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config.tcl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2103120"/>
            <a:ext cx="2377440" cy="457200"/>
          </a:xfrm>
          <a:prstGeom prst="rect">
            <a:avLst/>
          </a:prstGeom>
          <a:solidFill>
            <a:srgbClr val="0A2215"/>
          </a:solidFill>
          <a:ln w="635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3" name="Text 31"/>
          <p:cNvSpPr/>
          <p:nvPr/>
        </p:nvSpPr>
        <p:spPr>
          <a:xfrm>
            <a:off x="6492240" y="21031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a3f7c2e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92240" y="2697480"/>
            <a:ext cx="2377440" cy="457200"/>
          </a:xfrm>
          <a:prstGeom prst="rect">
            <a:avLst/>
          </a:prstGeom>
          <a:solidFill>
            <a:srgbClr val="0A2215"/>
          </a:solidFill>
          <a:ln w="635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5" name="Text 33"/>
          <p:cNvSpPr/>
          <p:nvPr/>
        </p:nvSpPr>
        <p:spPr>
          <a:xfrm>
            <a:off x="649224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b19d4a1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3291840"/>
            <a:ext cx="2377440" cy="457200"/>
          </a:xfrm>
          <a:prstGeom prst="rect">
            <a:avLst/>
          </a:prstGeom>
          <a:solidFill>
            <a:srgbClr val="0A2215"/>
          </a:solidFill>
          <a:ln w="635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7" name="Text 35"/>
          <p:cNvSpPr/>
          <p:nvPr/>
        </p:nvSpPr>
        <p:spPr>
          <a:xfrm>
            <a:off x="6492240" y="3291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c87e3f0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64536" y="43891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04800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◀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Esenciales de Git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2120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4864" cy="521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20440" y="914400"/>
            <a:ext cx="5212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 un nuevo repositorio en el directorio actual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99616"/>
            <a:ext cx="8595360" cy="52120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" name="Shape 7"/>
          <p:cNvSpPr/>
          <p:nvPr/>
        </p:nvSpPr>
        <p:spPr>
          <a:xfrm>
            <a:off x="274320" y="1499616"/>
            <a:ext cx="54864" cy="521208"/>
          </a:xfrm>
          <a:prstGeom prst="rect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Text 8"/>
          <p:cNvSpPr/>
          <p:nvPr/>
        </p:nvSpPr>
        <p:spPr>
          <a:xfrm>
            <a:off x="502920" y="1499616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1499616"/>
            <a:ext cx="5212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estado de los archivos (tracked/untracked)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84832"/>
            <a:ext cx="8595360" cy="52120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3" name="Shape 11"/>
          <p:cNvSpPr/>
          <p:nvPr/>
        </p:nvSpPr>
        <p:spPr>
          <a:xfrm>
            <a:off x="274320" y="2084832"/>
            <a:ext cx="54864" cy="521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Text 12"/>
          <p:cNvSpPr/>
          <p:nvPr/>
        </p:nvSpPr>
        <p:spPr>
          <a:xfrm>
            <a:off x="502920" y="2084832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&lt;archivo&gt;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084832"/>
            <a:ext cx="5212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cambios al staging area. Usa '.' para todos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70048"/>
            <a:ext cx="8595360" cy="52120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7" name="Shape 15"/>
          <p:cNvSpPr/>
          <p:nvPr/>
        </p:nvSpPr>
        <p:spPr>
          <a:xfrm>
            <a:off x="274320" y="2670048"/>
            <a:ext cx="54864" cy="521208"/>
          </a:xfrm>
          <a:prstGeom prst="rect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8" name="Text 16"/>
          <p:cNvSpPr/>
          <p:nvPr/>
        </p:nvSpPr>
        <p:spPr>
          <a:xfrm>
            <a:off x="502920" y="2670048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'msg'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2670048"/>
            <a:ext cx="5212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los cambios staged con un mensaje descriptivo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55264"/>
            <a:ext cx="8595360" cy="52120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Shape 19"/>
          <p:cNvSpPr/>
          <p:nvPr/>
        </p:nvSpPr>
        <p:spPr>
          <a:xfrm>
            <a:off x="274320" y="3255264"/>
            <a:ext cx="54864" cy="521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2" name="Text 20"/>
          <p:cNvSpPr/>
          <p:nvPr/>
        </p:nvSpPr>
        <p:spPr>
          <a:xfrm>
            <a:off x="502920" y="3255264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3255264"/>
            <a:ext cx="5212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historial de commits en formato compacto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840480"/>
            <a:ext cx="8595360" cy="52120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Shape 23"/>
          <p:cNvSpPr/>
          <p:nvPr/>
        </p:nvSpPr>
        <p:spPr>
          <a:xfrm>
            <a:off x="274320" y="3840480"/>
            <a:ext cx="54864" cy="521208"/>
          </a:xfrm>
          <a:prstGeom prst="rect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6" name="Text 24"/>
          <p:cNvSpPr/>
          <p:nvPr/>
        </p:nvSpPr>
        <p:spPr>
          <a:xfrm>
            <a:off x="502920" y="3840480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20440" y="3840480"/>
            <a:ext cx="5212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diferencias entre versiones o entre archivos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425696"/>
            <a:ext cx="8595360" cy="52120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9" name="Shape 27"/>
          <p:cNvSpPr/>
          <p:nvPr/>
        </p:nvSpPr>
        <p:spPr>
          <a:xfrm>
            <a:off x="274320" y="4425696"/>
            <a:ext cx="54864" cy="5212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0" name="Text 28"/>
          <p:cNvSpPr/>
          <p:nvPr/>
        </p:nvSpPr>
        <p:spPr>
          <a:xfrm>
            <a:off x="502920" y="4425696"/>
            <a:ext cx="2926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&lt;archivo&gt;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20440" y="4425696"/>
            <a:ext cx="52120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cambios en working directory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Historial de Commits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8595360" cy="3200400"/>
          </a:xfrm>
          <a:prstGeom prst="rect">
            <a:avLst/>
          </a:prstGeom>
          <a:solidFill>
            <a:srgbClr val="0A0F17"/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--oneline --graph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f3a1b2c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60320" y="1463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(HEAD -&gt; main) feat: add yield optimization script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9d8e7a1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60320" y="1920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correct temperature threshold in recipe.py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5b4c3d2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560320" y="2377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docs: update README with fab process parameters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2834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1a2b3c4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560320" y="2834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feat: initial etch profile calculator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3291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0f9e8d7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560320" y="32918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chore: initialize repository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8" name="Text 15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Cada commit es una fotografía del proyecto en el tiempo. El hash SHA-1 garantiza la integridad.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6"/>
          <p:cNvSpPr/>
          <p:nvPr/>
        </p:nvSpPr>
        <p:spPr>
          <a:xfrm flipV="1">
            <a:off x="4937760" y="2011680"/>
            <a:ext cx="694944" cy="118872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5" name="Shape 12"/>
          <p:cNvSpPr/>
          <p:nvPr/>
        </p:nvSpPr>
        <p:spPr>
          <a:xfrm>
            <a:off x="2194560" y="2011680"/>
            <a:ext cx="640080" cy="118872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(Branches)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828800"/>
            <a:ext cx="365760" cy="365760"/>
          </a:xfrm>
          <a:prstGeom prst="ellipse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1645920" cy="0"/>
          </a:xfrm>
          <a:prstGeom prst="line">
            <a:avLst/>
          </a:prstGeom>
          <a:noFill/>
          <a:ln w="254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" name="Shape 4"/>
          <p:cNvSpPr/>
          <p:nvPr/>
        </p:nvSpPr>
        <p:spPr>
          <a:xfrm>
            <a:off x="2011680" y="1828800"/>
            <a:ext cx="365760" cy="365760"/>
          </a:xfrm>
          <a:prstGeom prst="ellipse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" name="Shape 5"/>
          <p:cNvSpPr/>
          <p:nvPr/>
        </p:nvSpPr>
        <p:spPr>
          <a:xfrm>
            <a:off x="2377440" y="2011680"/>
            <a:ext cx="1645920" cy="0"/>
          </a:xfrm>
          <a:prstGeom prst="line">
            <a:avLst/>
          </a:prstGeom>
          <a:noFill/>
          <a:ln w="254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" name="Shape 6"/>
          <p:cNvSpPr/>
          <p:nvPr/>
        </p:nvSpPr>
        <p:spPr>
          <a:xfrm>
            <a:off x="3749040" y="1828800"/>
            <a:ext cx="365760" cy="365760"/>
          </a:xfrm>
          <a:prstGeom prst="ellipse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Shape 7"/>
          <p:cNvSpPr/>
          <p:nvPr/>
        </p:nvSpPr>
        <p:spPr>
          <a:xfrm>
            <a:off x="4114800" y="2011680"/>
            <a:ext cx="1645920" cy="0"/>
          </a:xfrm>
          <a:prstGeom prst="line">
            <a:avLst/>
          </a:prstGeom>
          <a:noFill/>
          <a:ln w="254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1" name="Shape 8"/>
          <p:cNvSpPr/>
          <p:nvPr/>
        </p:nvSpPr>
        <p:spPr>
          <a:xfrm>
            <a:off x="5486400" y="1828800"/>
            <a:ext cx="365760" cy="365760"/>
          </a:xfrm>
          <a:prstGeom prst="ellipse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2" name="Shape 9"/>
          <p:cNvSpPr/>
          <p:nvPr/>
        </p:nvSpPr>
        <p:spPr>
          <a:xfrm>
            <a:off x="5852160" y="2011680"/>
            <a:ext cx="1645920" cy="0"/>
          </a:xfrm>
          <a:prstGeom prst="line">
            <a:avLst/>
          </a:prstGeom>
          <a:noFill/>
          <a:ln w="254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3" name="Shape 10"/>
          <p:cNvSpPr/>
          <p:nvPr/>
        </p:nvSpPr>
        <p:spPr>
          <a:xfrm>
            <a:off x="7223760" y="1828800"/>
            <a:ext cx="365760" cy="3657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Text 11"/>
          <p:cNvSpPr/>
          <p:nvPr/>
        </p:nvSpPr>
        <p:spPr>
          <a:xfrm>
            <a:off x="45720" y="1508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834640" y="301752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7" name="Shape 14"/>
          <p:cNvSpPr/>
          <p:nvPr/>
        </p:nvSpPr>
        <p:spPr>
          <a:xfrm>
            <a:off x="3200400" y="3200400"/>
            <a:ext cx="17373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8" name="Shape 15"/>
          <p:cNvSpPr/>
          <p:nvPr/>
        </p:nvSpPr>
        <p:spPr>
          <a:xfrm>
            <a:off x="4572000" y="3017520"/>
            <a:ext cx="365760" cy="3657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0" name="Text 17"/>
          <p:cNvSpPr/>
          <p:nvPr/>
        </p:nvSpPr>
        <p:spPr>
          <a:xfrm>
            <a:off x="2633472" y="2697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feature/etch-opt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212080" y="15087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74320" y="3657600"/>
            <a:ext cx="8595360" cy="24688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3" name="Text 20"/>
          <p:cNvSpPr/>
          <p:nvPr/>
        </p:nvSpPr>
        <p:spPr>
          <a:xfrm>
            <a:off x="411480" y="365760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feature/etch-opt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0" y="365760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nueva rama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3931920"/>
            <a:ext cx="8595360" cy="246888"/>
          </a:xfrm>
          <a:prstGeom prst="rect">
            <a:avLst/>
          </a:prstGeom>
          <a:solidFill>
            <a:srgbClr val="111820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6" name="Text 23"/>
          <p:cNvSpPr/>
          <p:nvPr/>
        </p:nvSpPr>
        <p:spPr>
          <a:xfrm>
            <a:off x="411480" y="393192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feature/etch-opt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0" y="393192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a la rama (también: git switch)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" y="4206240"/>
            <a:ext cx="8595360" cy="24688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9" name="Text 26"/>
          <p:cNvSpPr/>
          <p:nvPr/>
        </p:nvSpPr>
        <p:spPr>
          <a:xfrm>
            <a:off x="411480" y="42062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feature/etch-opt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0" y="420624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cambiar en un comando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74320" y="4480560"/>
            <a:ext cx="8595360" cy="246888"/>
          </a:xfrm>
          <a:prstGeom prst="rect">
            <a:avLst/>
          </a:prstGeom>
          <a:solidFill>
            <a:srgbClr val="111820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2" name="Text 29"/>
          <p:cNvSpPr/>
          <p:nvPr/>
        </p:nvSpPr>
        <p:spPr>
          <a:xfrm>
            <a:off x="411480" y="448056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feature/etch-opt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0" y="448056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la rama al branch actual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74320" y="4754880"/>
            <a:ext cx="8595360" cy="246888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5" name="Text 32"/>
          <p:cNvSpPr/>
          <p:nvPr/>
        </p:nvSpPr>
        <p:spPr>
          <a:xfrm>
            <a:off x="411480" y="475488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feature/etch-opt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0" y="4754880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la rama después del merge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4" name="Text 1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Colaboración en la Nube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2423160"/>
            <a:ext cx="2743200" cy="1143000"/>
          </a:xfrm>
          <a:prstGeom prst="rect">
            <a:avLst/>
          </a:prstGeom>
          <a:solidFill>
            <a:srgbClr val="1C2333"/>
          </a:solidFill>
          <a:ln w="889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60120" y="2834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cambios entre local y remoto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00400" y="2423160"/>
            <a:ext cx="2743200" cy="1143000"/>
          </a:xfrm>
          <a:prstGeom prst="rect">
            <a:avLst/>
          </a:prstGeom>
          <a:solidFill>
            <a:srgbClr val="1C2333"/>
          </a:solidFill>
          <a:ln w="889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743200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8620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886200" y="2834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desarrolladores en el mismo repo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126480" y="2423160"/>
            <a:ext cx="2743200" cy="1143000"/>
          </a:xfrm>
          <a:prstGeom prst="rect">
            <a:avLst/>
          </a:prstGeom>
          <a:solidFill>
            <a:srgbClr val="1C2333"/>
          </a:solidFill>
          <a:ln w="889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743200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1228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ramas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812280" y="28346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para proteger main/production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274320" y="3794760"/>
            <a:ext cx="2743200" cy="1143000"/>
          </a:xfrm>
          <a:prstGeom prst="rect">
            <a:avLst/>
          </a:prstGeom>
          <a:solidFill>
            <a:srgbClr val="1C2333"/>
          </a:solidFill>
          <a:ln w="889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14800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3886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960120" y="4206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código con comentarios en línea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3200400" y="3794760"/>
            <a:ext cx="2743200" cy="1143000"/>
          </a:xfrm>
          <a:prstGeom prst="rect">
            <a:avLst/>
          </a:prstGeom>
          <a:solidFill>
            <a:srgbClr val="1C2333"/>
          </a:solidFill>
          <a:ln w="889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4114800"/>
            <a:ext cx="411480" cy="4114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86200" y="3886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&amp; Milestones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3886200" y="4206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tareas y progreso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6126480" y="3794760"/>
            <a:ext cx="2743200" cy="1143000"/>
          </a:xfrm>
          <a:prstGeom prst="rect">
            <a:avLst/>
          </a:prstGeom>
          <a:solidFill>
            <a:srgbClr val="1C2333"/>
          </a:solidFill>
          <a:ln w="889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4114800"/>
            <a:ext cx="411480" cy="4114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812280" y="3886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</a:t>
            </a:r>
            <a:endParaRPr lang="en-US" sz="1200" dirty="0"/>
          </a:p>
        </p:txBody>
      </p:sp>
      <p:sp>
        <p:nvSpPr>
          <p:cNvPr id="28" name="Text 19"/>
          <p:cNvSpPr/>
          <p:nvPr/>
        </p:nvSpPr>
        <p:spPr>
          <a:xfrm>
            <a:off x="6812280" y="42062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etiquetadas del proyecto</a:t>
            </a:r>
            <a:endParaRPr lang="en-US" sz="1000" dirty="0"/>
          </a:p>
        </p:txBody>
      </p:sp>
      <p:pic>
        <p:nvPicPr>
          <p:cNvPr id="32" name="Picture 31" descr="A cat with a white circle&#10;&#10;AI-generated content may be incorrect.">
            <a:extLst>
              <a:ext uri="{FF2B5EF4-FFF2-40B4-BE49-F238E27FC236}">
                <a16:creationId xmlns:a16="http://schemas.microsoft.com/office/drawing/2014/main" id="{8FE89829-F94C-0191-B980-54CFD32D64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325755"/>
            <a:ext cx="1383030" cy="13830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Remotos: Sincronización con GitHub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292608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Text 3"/>
          <p:cNvSpPr/>
          <p:nvPr/>
        </p:nvSpPr>
        <p:spPr>
          <a:xfrm>
            <a:off x="274320" y="914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💻  Local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commits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914400"/>
            <a:ext cx="2926080" cy="1463040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" name="Text 6"/>
          <p:cNvSpPr/>
          <p:nvPr/>
        </p:nvSpPr>
        <p:spPr>
          <a:xfrm>
            <a:off x="5943600" y="914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</a:rPr>
              <a:t>☁️  GitHub (origin)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3716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remote/main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commits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325880"/>
            <a:ext cx="2560320" cy="0"/>
          </a:xfrm>
          <a:prstGeom prst="line">
            <a:avLst/>
          </a:prstGeom>
          <a:noFill/>
          <a:ln w="254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2" name="Text 9"/>
          <p:cNvSpPr/>
          <p:nvPr/>
        </p:nvSpPr>
        <p:spPr>
          <a:xfrm>
            <a:off x="3337560" y="1005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91840" y="1828800"/>
            <a:ext cx="2560320" cy="0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Text 11"/>
          <p:cNvSpPr/>
          <p:nvPr/>
        </p:nvSpPr>
        <p:spPr>
          <a:xfrm>
            <a:off x="333756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606040"/>
            <a:ext cx="859536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6" name="Text 13"/>
          <p:cNvSpPr/>
          <p:nvPr/>
        </p:nvSpPr>
        <p:spPr>
          <a:xfrm>
            <a:off x="457200" y="2606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63440" y="26060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repo local con GitHub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3008376"/>
            <a:ext cx="8595360" cy="347472"/>
          </a:xfrm>
          <a:prstGeom prst="rect">
            <a:avLst/>
          </a:prstGeom>
          <a:solidFill>
            <a:srgbClr val="111820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9" name="Text 16"/>
          <p:cNvSpPr/>
          <p:nvPr/>
        </p:nvSpPr>
        <p:spPr>
          <a:xfrm>
            <a:off x="457200" y="30083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63440" y="30083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commits al remote (primera vez)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" y="3410712"/>
            <a:ext cx="859536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2" name="Text 19"/>
          <p:cNvSpPr/>
          <p:nvPr/>
        </p:nvSpPr>
        <p:spPr>
          <a:xfrm>
            <a:off x="457200" y="34107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63440" y="34107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nuevos commits al remote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74320" y="3813048"/>
            <a:ext cx="8595360" cy="347472"/>
          </a:xfrm>
          <a:prstGeom prst="rect">
            <a:avLst/>
          </a:prstGeom>
          <a:solidFill>
            <a:srgbClr val="111820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Text 22"/>
          <p:cNvSpPr/>
          <p:nvPr/>
        </p:nvSpPr>
        <p:spPr>
          <a:xfrm>
            <a:off x="457200" y="38130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63440" y="38130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cambios del remote y fusiona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4215384"/>
            <a:ext cx="859536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8" name="Text 25"/>
          <p:cNvSpPr/>
          <p:nvPr/>
        </p:nvSpPr>
        <p:spPr>
          <a:xfrm>
            <a:off x="457200" y="42153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663440" y="42153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cambios sin fusionar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11820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1" name="Text 28"/>
          <p:cNvSpPr/>
          <p:nvPr/>
        </p:nvSpPr>
        <p:spPr>
          <a:xfrm>
            <a:off x="457200" y="4617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663440" y="4617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un repositorio completo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— Archivos que Git debe ignorar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proyectos de semiconductores, muchos archivos NO deben versionarse: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206240" cy="3383280"/>
          </a:xfrm>
          <a:prstGeom prst="rect">
            <a:avLst/>
          </a:prstGeom>
          <a:solidFill>
            <a:srgbClr val="0A0F17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 — ejemplo fab/EDA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Simulación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*.sim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*.wdb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simv/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Compilados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*.pyc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Herramientas EDA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*.log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*.db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Datos sensibles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credentials.txt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114800" cy="713232"/>
          </a:xfrm>
          <a:prstGeom prst="rect">
            <a:avLst/>
          </a:prstGeom>
          <a:solidFill>
            <a:srgbClr val="1C2333"/>
          </a:solidFill>
          <a:ln w="1016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" name="Text 7"/>
          <p:cNvSpPr/>
          <p:nvPr/>
        </p:nvSpPr>
        <p:spPr>
          <a:xfrm>
            <a:off x="4892040" y="1389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binarios/compilados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6642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Grandes, cambian siempre, no aportan al historial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176272"/>
            <a:ext cx="4114800" cy="713232"/>
          </a:xfrm>
          <a:prstGeom prst="rect">
            <a:avLst/>
          </a:prstGeom>
          <a:solidFill>
            <a:srgbClr val="1C2333"/>
          </a:solidFill>
          <a:ln w="1016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2" name="Text 10"/>
          <p:cNvSpPr/>
          <p:nvPr/>
        </p:nvSpPr>
        <p:spPr>
          <a:xfrm>
            <a:off x="489204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/ API keys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versionar información sensible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980944"/>
            <a:ext cx="4114800" cy="713232"/>
          </a:xfrm>
          <a:prstGeom prst="rect">
            <a:avLst/>
          </a:prstGeom>
          <a:solidFill>
            <a:srgbClr val="1C2333"/>
          </a:solidFill>
          <a:ln w="1016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5" name="Text 13"/>
          <p:cNvSpPr/>
          <p:nvPr/>
        </p:nvSpPr>
        <p:spPr>
          <a:xfrm>
            <a:off x="4892040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de simulación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3273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regeneran con la herramienta EDA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785616"/>
            <a:ext cx="4114800" cy="713232"/>
          </a:xfrm>
          <a:prstGeom prst="rect">
            <a:avLst/>
          </a:prstGeom>
          <a:solidFill>
            <a:srgbClr val="1C2333"/>
          </a:solidFill>
          <a:ln w="1016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8" name="Text 16"/>
          <p:cNvSpPr/>
          <p:nvPr/>
        </p:nvSpPr>
        <p:spPr>
          <a:xfrm>
            <a:off x="4892040" y="3803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temporales del SO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40782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.DS_Store, Thumbs.db, etc.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4617720"/>
            <a:ext cx="4114800" cy="36576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Text 19"/>
          <p:cNvSpPr/>
          <p:nvPr/>
        </p:nvSpPr>
        <p:spPr>
          <a:xfrm>
            <a:off x="475488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Usa github.com/github/gitignore para templates por tecnología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16916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2743200" y="24688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en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Colaborativos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743200" y="34290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Ramas, Pull Requests, Code Review y Resolución de Conflictos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Trabajo Colaborativo: Git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508760" cy="502920"/>
          </a:xfrm>
          <a:prstGeom prst="rect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65960" y="8229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estable. Solo recibe merges de release/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85953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150876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Text 8"/>
          <p:cNvSpPr/>
          <p:nvPr/>
        </p:nvSpPr>
        <p:spPr>
          <a:xfrm>
            <a:off x="274320" y="14173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141732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continua de features completadas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85953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15087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Text 12"/>
          <p:cNvSpPr/>
          <p:nvPr/>
        </p:nvSpPr>
        <p:spPr>
          <a:xfrm>
            <a:off x="274320" y="2011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feature/*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20116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nueva función tiene su propia rama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06040"/>
            <a:ext cx="85953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7" name="Shape 15"/>
          <p:cNvSpPr/>
          <p:nvPr/>
        </p:nvSpPr>
        <p:spPr>
          <a:xfrm>
            <a:off x="274320" y="2606040"/>
            <a:ext cx="1508760" cy="5029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8" name="Text 16"/>
          <p:cNvSpPr/>
          <p:nvPr/>
        </p:nvSpPr>
        <p:spPr>
          <a:xfrm>
            <a:off x="274320" y="26060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release/*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26060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release: solo bugfixes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8595360" cy="502920"/>
          </a:xfrm>
          <a:prstGeom prst="rect">
            <a:avLst/>
          </a:prstGeom>
          <a:solidFill>
            <a:srgbClr val="1C2333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Shape 19"/>
          <p:cNvSpPr/>
          <p:nvPr/>
        </p:nvSpPr>
        <p:spPr>
          <a:xfrm>
            <a:off x="274320" y="3200400"/>
            <a:ext cx="1508760" cy="502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2" name="Text 20"/>
          <p:cNvSpPr/>
          <p:nvPr/>
        </p:nvSpPr>
        <p:spPr>
          <a:xfrm>
            <a:off x="274320" y="32004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hotfix/*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65960" y="320040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Correcciones críticas en producción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840480"/>
            <a:ext cx="8595360" cy="1097280"/>
          </a:xfrm>
          <a:prstGeom prst="rect">
            <a:avLst/>
          </a:prstGeom>
          <a:solidFill>
            <a:srgbClr val="0A15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Text 23"/>
          <p:cNvSpPr/>
          <p:nvPr/>
        </p:nvSpPr>
        <p:spPr>
          <a:xfrm>
            <a:off x="45720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típico: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git checkout -b feature/etch-v2 develop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[desarrollar y hacer commits]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git push origin feature/etch-v2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Abrir Pull Request → develop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Code Review → Merge → eliminar rama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y Code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05156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069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rama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356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051560"/>
          </a:xfrm>
          <a:prstGeom prst="rect">
            <a:avLst/>
          </a:prstGeom>
          <a:solidFill>
            <a:srgbClr val="1C2333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502920" cy="502920"/>
          </a:xfrm>
          <a:prstGeom prst="ellipse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0698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 &amp; commit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4356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'feat: ...'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14800" cy="1051560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5" name="Shape 13"/>
          <p:cNvSpPr/>
          <p:nvPr/>
        </p:nvSpPr>
        <p:spPr>
          <a:xfrm>
            <a:off x="411480" y="246888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6" name="Text 14"/>
          <p:cNvSpPr/>
          <p:nvPr/>
        </p:nvSpPr>
        <p:spPr>
          <a:xfrm>
            <a:off x="41148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304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 remote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670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feature/X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114800" cy="1051560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0" name="Shape 18"/>
          <p:cNvSpPr/>
          <p:nvPr/>
        </p:nvSpPr>
        <p:spPr>
          <a:xfrm>
            <a:off x="4846320" y="2468880"/>
            <a:ext cx="502920" cy="502920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Text 19"/>
          <p:cNvSpPr/>
          <p:nvPr/>
        </p:nvSpPr>
        <p:spPr>
          <a:xfrm>
            <a:off x="484632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2304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PR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670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UI → Compare &amp; pull request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4114800" cy="105156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Shape 23"/>
          <p:cNvSpPr/>
          <p:nvPr/>
        </p:nvSpPr>
        <p:spPr>
          <a:xfrm>
            <a:off x="411480" y="37033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6" name="Text 24"/>
          <p:cNvSpPr/>
          <p:nvPr/>
        </p:nvSpPr>
        <p:spPr>
          <a:xfrm>
            <a:off x="41148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538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904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Revisores comentan y aprueban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429000"/>
            <a:ext cx="4114800" cy="1051560"/>
          </a:xfrm>
          <a:prstGeom prst="rect">
            <a:avLst/>
          </a:prstGeom>
          <a:solidFill>
            <a:srgbClr val="1C2333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0" name="Shape 28"/>
          <p:cNvSpPr/>
          <p:nvPr/>
        </p:nvSpPr>
        <p:spPr>
          <a:xfrm>
            <a:off x="4846320" y="3703320"/>
            <a:ext cx="502920" cy="502920"/>
          </a:xfrm>
          <a:prstGeom prst="ellipse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1" name="Text 29"/>
          <p:cNvSpPr/>
          <p:nvPr/>
        </p:nvSpPr>
        <p:spPr>
          <a:xfrm>
            <a:off x="484632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3538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9044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Squash / Merge / Rebase merge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1C2333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Los PRs son el mecanismo principal de revisión y aprendizaje colectivo en equipos de software.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Conflictos de Merge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conflicto ocurre cuando dos ramas modifican la misma línea de un archivo: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2331720"/>
          </a:xfrm>
          <a:prstGeom prst="rect">
            <a:avLst/>
          </a:prstGeom>
          <a:solidFill>
            <a:srgbClr val="0A0F17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process.py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 (main)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temp_threshold = 450  # valor en main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temp_threshold = 480  # valor en feature/etch-v2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feature/etch-v2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794760"/>
            <a:ext cx="2029968" cy="1097280"/>
          </a:xfrm>
          <a:prstGeom prst="rect">
            <a:avLst/>
          </a:prstGeom>
          <a:solidFill>
            <a:srgbClr val="1C2333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" name="Text 6"/>
          <p:cNvSpPr/>
          <p:nvPr/>
        </p:nvSpPr>
        <p:spPr>
          <a:xfrm>
            <a:off x="274320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6B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8130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2062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 →  'both modified'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3794760"/>
            <a:ext cx="2029968" cy="1097280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2" name="Text 10"/>
          <p:cNvSpPr/>
          <p:nvPr/>
        </p:nvSpPr>
        <p:spPr>
          <a:xfrm>
            <a:off x="2450592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3B34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07792" y="38130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50592" y="42062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Abre el archivo, elige/combina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26864" y="3794760"/>
            <a:ext cx="2029968" cy="10972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6" name="Text 14"/>
          <p:cNvSpPr/>
          <p:nvPr/>
        </p:nvSpPr>
        <p:spPr>
          <a:xfrm>
            <a:off x="4626864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84064" y="38130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26864" y="42062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process.py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03136" y="3794760"/>
            <a:ext cx="2029968" cy="1097280"/>
          </a:xfrm>
          <a:prstGeom prst="rect">
            <a:avLst/>
          </a:prstGeom>
          <a:solidFill>
            <a:srgbClr val="1C2333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0" name="Text 18"/>
          <p:cNvSpPr/>
          <p:nvPr/>
        </p:nvSpPr>
        <p:spPr>
          <a:xfrm>
            <a:off x="6803136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D4B0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260336" y="381304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03136" y="4206240"/>
            <a:ext cx="20299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 (mensaje auto-generado)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Versiones y Releases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tags marcan puntos específicos del historial — típicamente versiones de producción: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371600"/>
            <a:ext cx="8595360" cy="1005840"/>
          </a:xfrm>
          <a:prstGeom prst="rect">
            <a:avLst/>
          </a:prstGeom>
          <a:solidFill>
            <a:srgbClr val="1C2333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Semver: v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920240" y="14447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6B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712976" y="2011680"/>
            <a:ext cx="8016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incompatible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651760" y="14447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F6FF"/>
                </a:solidFill>
              </a:rPr>
              <a:t>.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926080" y="14447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316"/>
                </a:solidFill>
              </a:rPr>
              <a:t>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718816" y="2011680"/>
            <a:ext cx="938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funcionalidad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0" y="14447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F6FF"/>
                </a:solidFill>
              </a:rPr>
              <a:t>.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931920" y="14447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D4B0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794760" y="2011680"/>
            <a:ext cx="938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Correcciones de bugs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2651760"/>
            <a:ext cx="859536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7" name="Text 14"/>
          <p:cNvSpPr/>
          <p:nvPr/>
        </p:nvSpPr>
        <p:spPr>
          <a:xfrm>
            <a:off x="457200" y="26517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v2.1.4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20640" y="2651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ligero (puntero simple)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3044952"/>
            <a:ext cx="8595360" cy="347472"/>
          </a:xfrm>
          <a:prstGeom prst="rect">
            <a:avLst/>
          </a:prstGeom>
          <a:solidFill>
            <a:srgbClr val="111820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0" name="Text 17"/>
          <p:cNvSpPr/>
          <p:nvPr/>
        </p:nvSpPr>
        <p:spPr>
          <a:xfrm>
            <a:off x="457200" y="30449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-a v2.1.4 -m 'Release v2.1.4'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20640" y="3044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anotado (recomendado)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3438144"/>
            <a:ext cx="859536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3" name="Text 20"/>
          <p:cNvSpPr/>
          <p:nvPr/>
        </p:nvSpPr>
        <p:spPr>
          <a:xfrm>
            <a:off x="457200" y="34381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v2.1.4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120640" y="3438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el tag al remote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" y="3831336"/>
            <a:ext cx="8595360" cy="347472"/>
          </a:xfrm>
          <a:prstGeom prst="rect">
            <a:avLst/>
          </a:prstGeom>
          <a:solidFill>
            <a:srgbClr val="111820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6" name="Text 23"/>
          <p:cNvSpPr/>
          <p:nvPr/>
        </p:nvSpPr>
        <p:spPr>
          <a:xfrm>
            <a:off x="457200" y="38313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--tags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120640" y="38313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todos los tags locales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74320" y="4224528"/>
            <a:ext cx="8595360" cy="347472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9" name="Text 26"/>
          <p:cNvSpPr/>
          <p:nvPr/>
        </p:nvSpPr>
        <p:spPr>
          <a:xfrm>
            <a:off x="457200" y="42245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-l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120640" y="4224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todos los tags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11820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2" name="Text 29"/>
          <p:cNvSpPr/>
          <p:nvPr/>
        </p:nvSpPr>
        <p:spPr>
          <a:xfrm>
            <a:off x="457200" y="4617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v2.1.4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120640" y="4617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estado en ese tag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0" y="16916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2743200" y="246888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de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2743200" y="34290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Commits convencionales, Comentarios y Wikis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README: La Puerta de Entrada al Proyecto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572000" cy="4023360"/>
          </a:xfrm>
          <a:prstGeom prst="rect">
            <a:avLst/>
          </a:prstGeom>
          <a:solidFill>
            <a:srgbClr val="0A0F1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README.md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EtchProfileCalc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Herramienta para calcular perfiles 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grabado húmedo en procesos CMOS.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Instalación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```bash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etch-profile-calc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Uso rápido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```python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etch import calculator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 = calculator.EtchCalc()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Autores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Licencia  MIT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0" y="914400"/>
            <a:ext cx="38404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" name="Text 6"/>
          <p:cNvSpPr/>
          <p:nvPr/>
        </p:nvSpPr>
        <p:spPr>
          <a:xfrm>
            <a:off x="5166360" y="9144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descripción breve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26680" y="9144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Obligatorio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0" y="1389888"/>
            <a:ext cx="38404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1" name="Text 9"/>
          <p:cNvSpPr/>
          <p:nvPr/>
        </p:nvSpPr>
        <p:spPr>
          <a:xfrm>
            <a:off x="5166360" y="13898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de estado (CI/tests)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26680" y="13898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Recomendado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0" y="1865376"/>
            <a:ext cx="38404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Text 12"/>
          <p:cNvSpPr/>
          <p:nvPr/>
        </p:nvSpPr>
        <p:spPr>
          <a:xfrm>
            <a:off x="5166360" y="186537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instalación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26680" y="18653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Obligatorio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2340864"/>
            <a:ext cx="38404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7" name="Text 15"/>
          <p:cNvSpPr/>
          <p:nvPr/>
        </p:nvSpPr>
        <p:spPr>
          <a:xfrm>
            <a:off x="5166360" y="234086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uso rápido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26680" y="234086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Obligatorio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2816352"/>
            <a:ext cx="38404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0" name="Text 18"/>
          <p:cNvSpPr/>
          <p:nvPr/>
        </p:nvSpPr>
        <p:spPr>
          <a:xfrm>
            <a:off x="5166360" y="281635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26680" y="281635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Recomendado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3291840"/>
            <a:ext cx="38404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3" name="Text 21"/>
          <p:cNvSpPr/>
          <p:nvPr/>
        </p:nvSpPr>
        <p:spPr>
          <a:xfrm>
            <a:off x="5166360" y="32918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Contribución (CONTRIBUTING.md)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26680" y="329184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Recomendado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3767328"/>
            <a:ext cx="38404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6" name="Text 24"/>
          <p:cNvSpPr/>
          <p:nvPr/>
        </p:nvSpPr>
        <p:spPr>
          <a:xfrm>
            <a:off x="5166360" y="37673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26680" y="376732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Obligatorio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0" y="4242816"/>
            <a:ext cx="3840480" cy="420624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9" name="Text 27"/>
          <p:cNvSpPr/>
          <p:nvPr/>
        </p:nvSpPr>
        <p:spPr>
          <a:xfrm>
            <a:off x="5166360" y="42428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/ Autores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26680" y="42428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Opcional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Convencionales (Conventional Commits)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&lt;tipo&gt;</a:t>
            </a:r>
            <a:r>
              <a:rPr lang="en-US" sz="14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(&lt;alcance&gt;)</a:t>
            </a:r>
            <a:r>
              <a:rPr lang="en-US" sz="14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&lt;descripción corta&gt;</a:t>
            </a: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→   </a:t>
            </a:r>
            <a:r>
              <a:rPr lang="en-US" sz="1400" i="1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feat(etch): add HF concentration calculator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2029968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funcionalidad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737360"/>
            <a:ext cx="2029968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Text 8"/>
          <p:cNvSpPr/>
          <p:nvPr/>
        </p:nvSpPr>
        <p:spPr>
          <a:xfrm>
            <a:off x="2450592" y="17373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50592" y="208483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bug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737360"/>
            <a:ext cx="2029968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3" name="Text 11"/>
          <p:cNvSpPr/>
          <p:nvPr/>
        </p:nvSpPr>
        <p:spPr>
          <a:xfrm>
            <a:off x="4626864" y="17373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26864" y="208483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documentación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03136" y="1737360"/>
            <a:ext cx="2029968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6" name="Text 14"/>
          <p:cNvSpPr/>
          <p:nvPr/>
        </p:nvSpPr>
        <p:spPr>
          <a:xfrm>
            <a:off x="6803136" y="173736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03136" y="208483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(no afecta lógica)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2029968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9" name="Text 17"/>
          <p:cNvSpPr/>
          <p:nvPr/>
        </p:nvSpPr>
        <p:spPr>
          <a:xfrm>
            <a:off x="274320" y="25146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286207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Refactorización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50592" y="2514600"/>
            <a:ext cx="2029968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2" name="Text 20"/>
          <p:cNvSpPr/>
          <p:nvPr/>
        </p:nvSpPr>
        <p:spPr>
          <a:xfrm>
            <a:off x="2450592" y="25146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50592" y="286207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o corregir tests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26864" y="2514600"/>
            <a:ext cx="2029968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5" name="Text 23"/>
          <p:cNvSpPr/>
          <p:nvPr/>
        </p:nvSpPr>
        <p:spPr>
          <a:xfrm>
            <a:off x="4626864" y="25146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26864" y="286207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 mantenimiento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3136" y="2514600"/>
            <a:ext cx="2029968" cy="685800"/>
          </a:xfrm>
          <a:prstGeom prst="rect">
            <a:avLst/>
          </a:prstGeom>
          <a:solidFill>
            <a:srgbClr val="1C2333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8" name="Text 26"/>
          <p:cNvSpPr/>
          <p:nvPr/>
        </p:nvSpPr>
        <p:spPr>
          <a:xfrm>
            <a:off x="6803136" y="2514600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03136" y="286207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 rendimiento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337560"/>
            <a:ext cx="8595360" cy="1508760"/>
          </a:xfrm>
          <a:prstGeom prst="rect">
            <a:avLst/>
          </a:prstGeom>
          <a:solidFill>
            <a:srgbClr val="0A0F17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1" name="Text 29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en contexto de semiconductores: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feat(recipe): add plasma etch step for copper interconnect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fix(calibration): correct thickness measurement offset in DUV litho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docs(README): add fab process flow diagram and parameter table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test(simulator): add unit tests for CMP rate prediction model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D4B0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y Docstrings en Código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77640"/>
          </a:xfrm>
          <a:prstGeom prst="rect">
            <a:avLst/>
          </a:prstGeom>
          <a:solidFill>
            <a:srgbClr val="0A0F17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</a:rPr>
              <a:t>❌  Mal comentado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calc(t, c, 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calcula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t * c * 0.0043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esto es importante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result &gt; 99: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result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3977640"/>
          </a:xfrm>
          <a:prstGeom prst="rect">
            <a:avLst/>
          </a:prstGeom>
          <a:solidFill>
            <a:srgbClr val="0A0F17"/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8" name="Text 6"/>
          <p:cNvSpPr/>
          <p:nvPr/>
        </p:nvSpPr>
        <p:spPr>
          <a:xfrm>
            <a:off x="484632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D364"/>
                </a:solidFill>
              </a:rPr>
              <a:t>✅  Bien documentado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etch_rate(temp: float,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conc: float,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resist: float) -&gt; float: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Calcula tasa de grabado (nm/min)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usando modelo Arrhenius simplificado.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Args: temp (°C), conc (mol/L),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resist (kΩ·cm)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RATE_CONST = 0.0043  # nm·L/(mol·min·°C)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rate = temp * conc * RATE_CONST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None if rate &gt; 99 else rate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 y Documentación del Proyecto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914400"/>
            <a:ext cx="4754880" cy="3977640"/>
          </a:xfrm>
          <a:prstGeom prst="rect">
            <a:avLst/>
          </a:prstGeom>
          <a:solidFill>
            <a:srgbClr val="0A0F17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Text 3"/>
          <p:cNvSpPr/>
          <p:nvPr/>
        </p:nvSpPr>
        <p:spPr>
          <a:xfrm>
            <a:off x="274320" y="9144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B341"/>
                </a:solidFill>
              </a:rPr>
              <a:t>CHANGELOG.md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132588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Changelog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[2.1.4] - 2025-03-15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Added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Plasma etch profile calculator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Support for 300mm wafers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Fixed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CMP rate offset correction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[2.0.0] - 2025-01-20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Breaking Changes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New API for recipe management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6D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Added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Multi-step process support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166360" y="960120"/>
            <a:ext cx="365760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9" name="Text 6"/>
          <p:cNvSpPr/>
          <p:nvPr/>
        </p:nvSpPr>
        <p:spPr>
          <a:xfrm>
            <a:off x="5303520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03520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uso rápido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66360" y="1618488"/>
            <a:ext cx="365760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2" name="Text 9"/>
          <p:cNvSpPr/>
          <p:nvPr/>
        </p:nvSpPr>
        <p:spPr>
          <a:xfrm>
            <a:off x="530352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CHANGELOG.md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0352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versiones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166360" y="2276856"/>
            <a:ext cx="365760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5" name="Text 12"/>
          <p:cNvSpPr/>
          <p:nvPr/>
        </p:nvSpPr>
        <p:spPr>
          <a:xfrm>
            <a:off x="5303520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CONTRIBUTING.md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03520" y="2578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colaborar al proyecto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166360" y="2935224"/>
            <a:ext cx="365760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8" name="Text 15"/>
          <p:cNvSpPr/>
          <p:nvPr/>
        </p:nvSpPr>
        <p:spPr>
          <a:xfrm>
            <a:off x="5303520" y="2962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CODE_OF_CONDUCT.md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303520" y="32369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de convivencia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166360" y="3593592"/>
            <a:ext cx="365760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Text 18"/>
          <p:cNvSpPr/>
          <p:nvPr/>
        </p:nvSpPr>
        <p:spPr>
          <a:xfrm>
            <a:off x="5303520" y="3621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303520" y="38953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de uso del código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166360" y="4251960"/>
            <a:ext cx="3657600" cy="566928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4" name="Text 21"/>
          <p:cNvSpPr/>
          <p:nvPr/>
        </p:nvSpPr>
        <p:spPr>
          <a:xfrm>
            <a:off x="530352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03520" y="45537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detallada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Buenas Prácticas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960120"/>
            <a:ext cx="4114800" cy="17830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" name="Text 4"/>
          <p:cNvSpPr/>
          <p:nvPr/>
        </p:nvSpPr>
        <p:spPr>
          <a:xfrm>
            <a:off x="274320" y="960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Commits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41732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Commits pequeños y enfocados en un solo cambio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Mensajes en presente imperativo: 'Add', 'Fix', 'Update'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Referencia issues: 'fix(etch): #42 correct rate'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09160" y="960120"/>
            <a:ext cx="4114800" cy="17830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4114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1" name="Text 8"/>
          <p:cNvSpPr/>
          <p:nvPr/>
        </p:nvSpPr>
        <p:spPr>
          <a:xfrm>
            <a:off x="4709160" y="960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Ramas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141732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Nombres descriptivos: feature/, fix/, hotfix/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Nunca trabajar directamente en main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Eliminar ramas después del merge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4320" y="2880360"/>
            <a:ext cx="4114800" cy="17830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4" name="Shape 11"/>
          <p:cNvSpPr/>
          <p:nvPr/>
        </p:nvSpPr>
        <p:spPr>
          <a:xfrm>
            <a:off x="274320" y="2880360"/>
            <a:ext cx="4114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5" name="Text 12"/>
          <p:cNvSpPr/>
          <p:nvPr/>
        </p:nvSpPr>
        <p:spPr>
          <a:xfrm>
            <a:off x="274320" y="28803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Código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" y="333756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Docstrings en todas las funciones públicas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Constantes con nombre en lugar de números mágicos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Variables con nombres que describan su propósito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4114800" cy="178308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8" name="Shape 15"/>
          <p:cNvSpPr/>
          <p:nvPr/>
        </p:nvSpPr>
        <p:spPr>
          <a:xfrm>
            <a:off x="4709160" y="2880360"/>
            <a:ext cx="4114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9" name="Text 16"/>
          <p:cNvSpPr/>
          <p:nvPr/>
        </p:nvSpPr>
        <p:spPr>
          <a:xfrm>
            <a:off x="4709160" y="28803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Repositorio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46320" y="3337560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README actualizado en cada release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CHANGELOG siguiendo Keep a Changelog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Revisar el .gitignore antes del primer commit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Práctico: Equipo de Fab Development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de 4 ingenieros desarrolla scripts de proceso para una línea de 28nm. Aplican todo lo aprendido: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595360" cy="603504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54864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7" name="Text 5"/>
          <p:cNvSpPr/>
          <p:nvPr/>
        </p:nvSpPr>
        <p:spPr>
          <a:xfrm>
            <a:off x="457200" y="1453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(Litografía)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feature/duv-alignment-script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0640" y="15453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Aísla su trabajo sin afectar a otros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12264"/>
            <a:ext cx="8595360" cy="603504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1" name="Shape 9"/>
          <p:cNvSpPr/>
          <p:nvPr/>
        </p:nvSpPr>
        <p:spPr>
          <a:xfrm>
            <a:off x="274320" y="2112264"/>
            <a:ext cx="54864" cy="6035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(Grabado)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048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'fix(etch): HF:NH4F ratio 7:1'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2240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Documenta exactamente qué cambió y por qué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07208"/>
            <a:ext cx="8595360" cy="603504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6" name="Shape 14"/>
          <p:cNvSpPr/>
          <p:nvPr/>
        </p:nvSpPr>
        <p:spPr>
          <a:xfrm>
            <a:off x="274320" y="2807208"/>
            <a:ext cx="54864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17" name="Text 15"/>
          <p:cNvSpPr/>
          <p:nvPr/>
        </p:nvSpPr>
        <p:spPr>
          <a:xfrm>
            <a:off x="457200" y="2843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(CMP)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99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develop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20640" y="29352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 mejoras del equipo antes de continuar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02152"/>
            <a:ext cx="8595360" cy="603504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Shape 19"/>
          <p:cNvSpPr/>
          <p:nvPr/>
        </p:nvSpPr>
        <p:spPr>
          <a:xfrm>
            <a:off x="274320" y="3502152"/>
            <a:ext cx="54864" cy="6035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2" name="Text 20"/>
          <p:cNvSpPr/>
          <p:nvPr/>
        </p:nvSpPr>
        <p:spPr>
          <a:xfrm>
            <a:off x="457200" y="3538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(Difusión)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794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-a v1.3.0 -m 'Process node stable'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3630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Marca hito antes de tapeout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197096"/>
            <a:ext cx="8595360" cy="603504"/>
          </a:xfrm>
          <a:prstGeom prst="rect">
            <a:avLst/>
          </a:prstGeom>
          <a:solidFill>
            <a:srgbClr val="1C2333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6" name="Shape 24"/>
          <p:cNvSpPr/>
          <p:nvPr/>
        </p:nvSpPr>
        <p:spPr>
          <a:xfrm>
            <a:off x="274320" y="4197096"/>
            <a:ext cx="54864" cy="6035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7" name="Text 25"/>
          <p:cNvSpPr/>
          <p:nvPr/>
        </p:nvSpPr>
        <p:spPr>
          <a:xfrm>
            <a:off x="457200" y="4233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equipo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89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D4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 → Code Review → Merge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43251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Nadie sube código sin revisión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Próximos Pasos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29968" cy="1920240"/>
          </a:xfrm>
          <a:prstGeom prst="rect">
            <a:avLst/>
          </a:prstGeom>
          <a:solidFill>
            <a:srgbClr val="1C2333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0972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71907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Local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210312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→ add → commit → log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50592" y="960120"/>
            <a:ext cx="2029968" cy="1920240"/>
          </a:xfrm>
          <a:prstGeom prst="rect">
            <a:avLst/>
          </a:prstGeom>
          <a:solidFill>
            <a:srgbClr val="1C2333"/>
          </a:solidFill>
          <a:ln w="12700">
            <a:solidFill>
              <a:srgbClr val="F0F6FF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10972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50592" y="171907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Remoto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450592" y="210312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→ pull → clone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26864" y="960120"/>
            <a:ext cx="2029968" cy="1920240"/>
          </a:xfrm>
          <a:prstGeom prst="rect">
            <a:avLst/>
          </a:prstGeom>
          <a:solidFill>
            <a:srgbClr val="1C2333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0972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26864" y="171907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626864" y="210312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+ PRs + merge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03136" y="960120"/>
            <a:ext cx="2029968" cy="1920240"/>
          </a:xfrm>
          <a:prstGeom prst="rect">
            <a:avLst/>
          </a:prstGeom>
          <a:solidFill>
            <a:srgbClr val="1C2333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09728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03136" y="1719072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03136" y="2103120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commits convencionales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74320" y="3017520"/>
            <a:ext cx="8595360" cy="1828800"/>
          </a:xfrm>
          <a:prstGeom prst="rect">
            <a:avLst/>
          </a:prstGeom>
          <a:solidFill>
            <a:srgbClr val="1C2333"/>
          </a:solidFill>
          <a:ln w="12700">
            <a:solidFill>
              <a:srgbClr val="0AD4B0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  <p:sp>
        <p:nvSpPr>
          <p:cNvPr id="21" name="Text 15"/>
          <p:cNvSpPr/>
          <p:nvPr/>
        </p:nvSpPr>
        <p:spPr>
          <a:xfrm>
            <a:off x="457200" y="3063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Tarea para la próxima sesión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3493008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Crear un repositorio en GitHub llamado 'fab-scripts'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Añadir un README.md con descripción, instalación y ejemplo de uso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Crear una rama feature/mi-primer-script y hacer al menos 3 commits siguiendo Conventional Commits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Abrir un Pull Request en GitHub y compartir el enlace en el LMS del curso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2019</Words>
  <Application>Microsoft Macintosh PowerPoint</Application>
  <PresentationFormat>On-screen Show (16:9)</PresentationFormat>
  <Paragraphs>462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al Versionado del Código</dc:title>
  <dc:subject>PptxGenJS Presentation</dc:subject>
  <dc:creator>Scripting y Programación para Semiconductores</dc:creator>
  <cp:lastModifiedBy>Gabriel Madrigal Boza</cp:lastModifiedBy>
  <cp:revision>4</cp:revision>
  <dcterms:created xsi:type="dcterms:W3CDTF">2026-03-20T00:32:12Z</dcterms:created>
  <dcterms:modified xsi:type="dcterms:W3CDTF">2026-03-20T01:01:45Z</dcterms:modified>
</cp:coreProperties>
</file>